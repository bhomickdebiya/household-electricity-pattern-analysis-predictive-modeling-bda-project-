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ACADEMIC LAB PROJECT PRESENTATION • V-SEMESTER CSE (AI &amp; 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Household Electricity Pattern Analysis &amp; Predictive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A Distributed Big Data Pipeline utilizing Hadoop HDFS, Native Java MapReduce, Apache Spark, NoSQL Cassandra &amp; Random Forest Forecasting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023360"/>
            <a:ext cx="713232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4160520"/>
            <a:ext cx="6766560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Calibri"/>
              </a:defRPr>
            </a:pPr>
            <a:r>
              <a:rPr dirty="0"/>
              <a:t>PROJECT MEMBERS &amp; CREDENTIALS:</a:t>
            </a:r>
          </a:p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• Bhomick Debiya  —  Roll Number: 32  (Core Pipeline &amp; MapReduce/Spark Integration)</a:t>
            </a:r>
          </a:p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• Shorya </a:t>
            </a:r>
            <a:r>
              <a:rPr dirty="0" err="1"/>
              <a:t>Chilate</a:t>
            </a:r>
            <a:r>
              <a:rPr dirty="0"/>
              <a:t>  —  </a:t>
            </a:r>
            <a:r>
              <a:rPr lang="en-US" dirty="0"/>
              <a:t>Roll Number: 58</a:t>
            </a:r>
            <a:r>
              <a:rPr dirty="0"/>
              <a:t>(Machine Learning, Visual Analytics &amp; </a:t>
            </a:r>
            <a:r>
              <a:rPr dirty="0" err="1"/>
              <a:t>Gradio</a:t>
            </a:r>
            <a:r>
              <a:rPr dirty="0"/>
              <a:t> Dashboard)</a:t>
            </a:r>
          </a:p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rPr dirty="0"/>
              <a:t>Department of Computer Science &amp; Engineering (Artificial Intelligence &amp; Data Science) | Oct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188720"/>
            <a:ext cx="2468880" cy="6217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98280" y="126187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2,075,260</a:t>
            </a:r>
          </a:p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Raw Readings Analyzed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83664"/>
            <a:ext cx="2468880" cy="6217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98280" y="195681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Hadoop HDFS</a:t>
            </a:r>
          </a:p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Distributed Storage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578608"/>
            <a:ext cx="2468880" cy="6217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98280" y="2651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Java MapReduce</a:t>
            </a:r>
          </a:p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Batch Disk Aggregation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273552"/>
            <a:ext cx="2468880" cy="6217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8280" y="3346704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Apache Spark</a:t>
            </a:r>
          </a:p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In-Memory Analytics (23s)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3968496"/>
            <a:ext cx="2468880" cy="6217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404164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0.000000 kW</a:t>
            </a:r>
          </a:p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Dual-Engine Delta (Zero Divergence)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4663440"/>
            <a:ext cx="2468880" cy="6217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8280" y="47365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Apache Cassandra</a:t>
            </a:r>
          </a:p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Distributed NoSQL Storage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5358383"/>
            <a:ext cx="2468880" cy="6217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8280" y="543153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Random Forest</a:t>
            </a:r>
          </a:p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Next-Hour Power Forecast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BIG DATA ANALYTICS LAB |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Executive Summary &amp; Industrial Problem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Household Electricity Pattern Analysis &amp; Predictive Modeling | Bhomick Debiya (Roll 32) &amp; Shorya Chilate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02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109728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463040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2,075,260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Continuous Smart Meter Time-Series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383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109728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463040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132.9 MB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Uncompressed Semicolon-Delimited 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109728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463040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4-Year Span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Continuous Sampling (Dec 2006 - Nov 2010)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423160"/>
            <a:ext cx="5212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INDUSTRIAL MOTIVATION &amp; PROBLEM STATEMENT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Smart Grid High Velocity: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 Modern power utilities collect minute-by-minute sensor readings from millions of smart meters. Analyzing this continuous flood exceeds the memory and scaling limits of traditional RDBMS.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Diurnal Peak &amp; Demand Surges: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 Unanticipated consumption spikes destabilize grid frequencies, trigger expensive auxiliary thermal generators, and cause transmission line overheating.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Sub-Meter Disaggregation Needs: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 Utilities require granular appliance-level insights (HVAC vs laundry vs kitchen) to formulate dynamic time-of-use (ToU) tariffs and demand-response programs.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Single Point of Failure Vulnerability: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 Monolithic architectures cannot provide fault-tolerant batch guarantees alongside interactive dashboard queries.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423160"/>
            <a:ext cx="5212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RESEARCH OBJECTIVES &amp; SYSTEM SOLUTION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✔ Distributed Fault-Tolerant Storage: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 Persist 2+ million raw smart-meter records directly in Hadoop Distributed File System (HDFS) across distributed data blocks.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✔ Robust Batch Computation: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 Implement native Java MapReduce algorithms to perform exact 24-hour baseline aggregation directly from HDFS splits.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✔ Accelerated In-Memory Processing: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 Leverage Apache Spark (PySpark) with Catalyst optimizer for multi-dimensional aggregations and sub-metering breakdown in ~23 seconds.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✔ Dual-Engine Validation Metric: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 Enforce rigorous cross-engine verification between MapReduce and Spark to prove zero divergence (&lt;0.0001 kW).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✔ Intelligent Forecasting &amp; UI: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 Train a Random Forest Regressor to forecast next-hour active power demand, persisted to NoSQL Cassandra and visualized via Gradio 6.0.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BIG DATA ANALYTICS LAB |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UCI Smart-Meter Dataset &amp; Rigorous Data Cleaning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Household Electricity Pattern Analysis &amp; Predictive Modeling | Bhomick Debiya (Roll 32) &amp; Shorya Chilate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03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621792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Dataset Schema &amp; Multi-Sensor Attributes (UCI Machine Learning Repository)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1828800"/>
          <a:ext cx="58521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Attribute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Physical Description &amp; Engineering Unit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String / 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Sampling timestamp formatted as dd/mm/yyyy hh:mm:ss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Global_active_power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Household real active power consumption (kW)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Global_reactive_power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Household reactive power consumption (kVAR)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Voltage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Minute-averaged line electric potential (Volts)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Global_intensity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Minute-averaged household electric current (Amperes)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Sub_metering_1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Kitchen appliances: Dishwasher &amp; microwave (Wh)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Sub_metering_2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Laundry room: Washing machine, dryer, fridge (Wh)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132320" y="1325880"/>
            <a:ext cx="42976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1463040"/>
            <a:ext cx="3931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DATA QUALITY &amp; HYGIENE FUNNEL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1. Total Raw Rows: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2,075,260 Records (132.9 MB raw file)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2. Missing Value Indicator: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UCI standard notation: '?' string tokens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3. Corrupted / Null Records: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25,980 rows dropped (power outages/meter faults)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4. Clean Valid Records: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2,049,280 Rows successfully ingested &amp; retained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5. Data Retention Rate: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98.75% High-Quality Clean Ingestion Ratio</a:t>
            </a:r>
          </a:p>
          <a:p>
            <a:br/>
            <a:r>
              <a:t>CRITICAL PREPROCESSING NOTE: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In both Java MapReduce and Apache Spark, missing values are cleanly eliminated prior to aggregation to prevent distortion of arithmetic means. No synthetic or forward-filled values contaminate baseline calculations.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BIG DATA ANALYTICS LAB |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Multi-Tier Distributed Big 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Household Electricity Pattern Analysis &amp; Predictive Modeling | Bhomick Debiya (Roll 32) &amp; Shorya Chilate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04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728655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109728" cy="914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399032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LAYER 1: RAW INGESTION &amp; DISTRIBUTED STORAGE (HADOOP HDFS)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Apache Hadoop 3.2.4 cluster daemons: Active NameNode (Port 9000 metadata) &amp; DataNodes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Raw 132.9 MB file stored at: /bda_electricity/input/household_power_consumption.txt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Distributed block splitting (128 MB default blocks) providing fault-tolerant replication across disks.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13432"/>
            <a:ext cx="10728655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313432"/>
            <a:ext cx="10972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386584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LAYER 2A: BATCH PROCESSING ENGINE (JAVA HADOOP MAPREDUCE)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Native compiled JAR: HourlyElectricityDriver executing over 2+ million HDFS split records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Mapper: Splits by ';', validates nulls ('?'), extracts Hour key (00-23) -&gt; emits (Hour, Active_Power)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Shuffle &amp; Sort: Automatic key partitioning -&gt; Reducer calculates exact 24-hr arithmetic mean power.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00984"/>
            <a:ext cx="10728655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300984"/>
            <a:ext cx="109728" cy="914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374136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LAYER 2B: IN-MEMORY ANALYTIC &amp; ML ENGINE (APACHE SPARK / PYSPARK)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Spark 3.5.5 DataFrame engine with Catalyst Optimizer executing in 23.9 seconds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Feature engineering: Timestamp parsing, DayOfWeek, Month, IsWeekend binary flags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Multi-dimensional aggregation + Random Forest Regressor predictive model fit (50 estimators).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88536"/>
            <a:ext cx="10728655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288536"/>
            <a:ext cx="10972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361688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LAYER 3: DISTRIBUTED PERSISTENCE &amp; AUDIT LOGS (APACHE CASSANDRA NOSQL)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Keyspace: bda_electricity | Tables: hourly_aggregates (Hour PK) &amp; model_predictions (Timestamp PK)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Live Cassandra connector on port 9042 with graceful automatic fallback to structured local JSON logs.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76088"/>
            <a:ext cx="10728655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5276088"/>
            <a:ext cx="109728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34924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LAYER 4: INTERACTIVE PRESENTATION &amp; AI INFERENCE (GRADIO 6.0 WEB APP)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Real-time web GUI on port 7860: Diurnal load curves, appliance donuts, correlation heatmaps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Side-by-side Dual-Engine Validation Tab + On-demand AI demand forecasting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BIG DATA ANALYTICS LAB |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Storage Layer: Apache Hadoop HDFS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Household Electricity Pattern Analysis &amp; Predictive Modeling | Bhomick Debiya (Roll 32) &amp; Shorya Chilate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05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109728" cy="8229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Port 9000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NameNode RPC Master Daemon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109728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417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132,960,755 B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Exact HDFS Block Storage 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10972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417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Zero Data Loss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HDFS Fault-Tolerant Block Integrity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331720"/>
            <a:ext cx="521208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HDFS CLUSTER TOPOLOGY &amp; DAEMONS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Master-Worker Daemon Architecture: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The NameNode acts as the master authority managing filesystem namespace, directory tree, and block metadata mappings. DataNodes physically store and serve data blocks.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Verification via 'jps' Command: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Execution of Java Virtual Machine Process Status Tool (jps) confirms live concurrent processes: NameNode, DataNode, NodeManager, and ResourceManager.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Fault Tolerance via Replication: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Blocks are replicated across nodes (configured default replication factor = 1 for local single-node cluster; production standard = 3). Any corrupted block is automatically detected via CRC32 checksums.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Data Locality Principle: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Computation is moved to data rather than transferring huge data over network switches, minimizing I/O bottlenecks.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331720"/>
            <a:ext cx="521208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HDFS DIRECTORY HIERARCHY &amp; VERIFICATION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▶ Directory Creation Command: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hdfs dfs -mkdir -p /bda_electricity/input</a:t>
            </a:r>
            <a:br/>
            <a:r>
              <a:t>hdfs dfs -mkdir -p /bda_electricity/output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▶ Dataset Ingestion Command: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hdfs dfs -put -f household_power_consumption.txt /bda_electricity/input/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▶ Verification &amp; Block Inspection: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hdfs dfs -ls -h /bda_electricity/input</a:t>
            </a:r>
            <a:br/>
            <a:r>
              <a:t>Result: 132.9 M /bda_electricity/input/household_power_consumption.txt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▶ MapReduce Output Inspection: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hdfs dfs -cat /bda_electricity/output/mr_hourly_results/part-r-00000 | head -n 5</a:t>
            </a:r>
            <a:br/>
            <a:r>
              <a:t>Result: Clean 24 tab-delimited hourly bins (00 to 23).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BIG DATA ANALYTICS LAB |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Batch Compute Engine: Java MapReduce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Household Electricity Pattern Analysis &amp; Predictive Modeling | Bhomick Debiya (Roll 32) &amp; Shorya Chilate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06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109728" cy="8229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2,049,280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Mapped Clean (Hour, kW) Tuples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109728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417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24 Partitions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Hourly Keys (00 to 23 hrs) Aggregated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10972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417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Zero Memory Spill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Disk-Streamed Linear Map-Reduce Execution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331720"/>
            <a:ext cx="521208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JAVA MAPREDUCE CLASS STRUCTURE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HourlyElectricityMapper.java: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Extends Mapper&lt;LongWritable, Text, Text, DoubleWritable&gt;</a:t>
            </a:r>
            <a:br/>
            <a:r>
              <a:t>Splits record by ';', validates nulls ('?'), parses HH from 'HH:MM:SS', and emits: context.write(new Text(hour), new DoubleWritable(power));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Shuffle &amp; Sort Phase (Hadoop Core):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Hadoop automatically sorts emitted key-value pairs by key ('00' through '23') and groups all power readings into an iterable list: &lt;Text, Iterable&lt;DoubleWritable&gt;&gt;.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HourlyElectricityReducer.java: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Extends Reducer&lt;Text, DoubleWritable, Text, Text&gt;</a:t>
            </a:r>
            <a:br/>
            <a:r>
              <a:t>Iterates through power values, accumulates total_sum and valid_count, computes mean = sum / count, and emits formatted TSV string.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HourlyElectricityDriver.java: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Configures Job instance, jar class, input/output paths on HDFS, and launches job via job.waitForCompletion(true).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331720"/>
            <a:ext cx="521208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CRITICAL ARCHITECTURAL INSIGHT: COMBINERS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⚠ Why Can't a Combiner Compute Average?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Mathematical Non-Associativity:</a:t>
            </a:r>
            <a:br/>
            <a:r>
              <a:t>An operation must be commutative and associative to safely run in a Combiner (like Sum or Max). Arithmetic Average is NOT associative:</a:t>
            </a:r>
            <a:br/>
            <a:r>
              <a:t>Avg(A, B, C) ≠ Avg(Avg(A, B), C)</a:t>
            </a:r>
            <a:br/>
            <a:br/>
            <a:r>
              <a:t>Example Proof:</a:t>
            </a:r>
            <a:br/>
            <a:r>
              <a:t>Split 1 values: [1.0, 3.0] -&gt; Local Avg = 2.0</a:t>
            </a:r>
            <a:br/>
            <a:r>
              <a:t>Split 2 values: [9.0] -&gt; Local Avg = 9.0</a:t>
            </a:r>
            <a:br/>
            <a:r>
              <a:t>Combiner of averages: (2.0 + 9.0) / 2 = 5.5 kW</a:t>
            </a:r>
            <a:br/>
            <a:r>
              <a:t>True Global Average: (1.0 + 3.0 + 9.0) / 3 = 4.33 kW! (Severe Distortion)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⚠ Correct Combiner Strategy: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If local aggregation is required, the Combiner must emit intermediate custom Writable tuples: (sum, count), allowing the Reducer to compute Global Sum / Global Count.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BIG DATA ANALYTICS LAB |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In-Memory Compute Engine: Apache Spark &amp; PySpark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Household Electricity Pattern Analysis &amp; Predictive Modeling | Bhomick Debiya (Roll 32) &amp; Shorya Chilate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07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109728" cy="8229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Spark 3.5.5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Catalyst Optimizer &amp; Tungsten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109728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417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23.96 Seconds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Total Pipeline Execution Across 2.07M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10972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417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100x Faster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In-Memory DAG Speedup vs Disk I/O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331720"/>
            <a:ext cx="521208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PYSPARK DISTRIBUTED TRANSFORMATIONS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Explicit Schema Enforcement: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Rather than expensive schema inference, an explicit StructType schema is supplied, speeding up DataFrame CSV parsing by over 40%.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Temporal Feature Engineering: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Extracts Hour (0-23), DayOfWeek (Mon-Sun), Month (1-12), and Year (2006-2010) via built-in Catalyst timestamp expressions.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In-Memory Caching (.cache()):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Materializes the transformed DataFrame into JVM memory across 8 shuffle partitions, allowing repeated aggregations without re-reading disks.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Multi-Metric Aggregations: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Computes Mean Active Power (1.092 kW), Daily Household Consumption (26.2 kWh/day), and appliance energy shares in parallel.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331720"/>
            <a:ext cx="521208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ARCHITECTURAL COMPARISON: SPARK VS MAPREDUCE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0" y="2926080"/>
          <a:ext cx="48463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Hadoop MapReduce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Apache Spark (PySpark)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Processing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Disk-based two-stage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In-memory multi-stage DAG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Memory Footprint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Minimal (spills to disk)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High RAM allocation (4GB+)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Fault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Re-executes failed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Recomputes lineage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Iteration Speed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Slow due to HDFS write/read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Up to 100x faster iterative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Role in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Exact baseline HDFS aggregation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Analytics, correlation &amp; 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BIG DATA ANALYTICS LAB |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Dual-Engine Cross-Validation: MapReduce vs Spark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Household Electricity Pattern Analysis &amp; Predictive Modeling | Bhomick Debiya (Roll 32) &amp; Shorya Chilate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08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109728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10408615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MAXIMUM DISCREPANCY: 0.000000 kW (ZERO DIVERGENCE)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Dual-engine verification proves mathematical equivalence between Java MapReduce and Apache Spark across 2,049,280 clean records</a:t>
            </a:r>
          </a:p>
        </p:txBody>
      </p:sp>
      <p:pic>
        <p:nvPicPr>
          <p:cNvPr id="11" name="Picture 10" descr="chart_dual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40280"/>
            <a:ext cx="5852160" cy="40233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766560" y="2240280"/>
            <a:ext cx="4693615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23317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Hourly Averages Verification Sample (kW)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949440" y="2743200"/>
          <a:ext cx="4297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MapReduce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Spark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00:00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0.6594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0.6594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0.0000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04:00 (Min)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0.4438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0.4438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0.0000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1.5022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1.5022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0.0000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12:00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1.2071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1.2071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0.0000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16:00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0.9489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0.9489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0.0000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20:00 (Peak)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1.8991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1.8991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0.0000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1.8777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1.8777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0.0000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23:00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0.9021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0.9021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0.0000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BIG DATA ANALYTICS LAB |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Exploratory Data Analysis: 24-Hour Diurnal Load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Household Electricity Pattern Analysis &amp; Predictive Modeling | Bhomick Debiya (Roll 32) &amp; Shorya Chilate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09 / 19</a:t>
            </a:r>
          </a:p>
        </p:txBody>
      </p:sp>
      <p:pic>
        <p:nvPicPr>
          <p:cNvPr id="8" name="Picture 7" descr="chart_hourly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0" y="1371600"/>
            <a:ext cx="460217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0" y="155448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DIURNAL LOAD CYCLE FINDINGS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1. Evening Peak Surge (19:00 - 21:00 hrs):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Maximum load reaches 1.899 kW at 20:00 hrs.</a:t>
            </a:r>
            <a:br/>
            <a:r>
              <a:t>• Driven by concurrent cooking, indoor lighting, television, and heating/cooling upon family return from work/school.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2. Morning Wake-Up Spike (07:00 - 08:00 hrs):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Secondary peak jumps to 1.502 kW at 07:00 hrs.</a:t>
            </a:r>
            <a:br/>
            <a:r>
              <a:t>• Coincides with water heating, microwave usage, and morning routines.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3. Nocturnal Standby Minimum (02:00 - 05:00 hrs):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Bottoms out at 0.443 kW at 04:00 hrs.</a:t>
            </a:r>
            <a:br/>
            <a:r>
              <a:t>• Represents essential base load: Continuous refrigeration, clock displays, routers, and phantom standby power.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Smart Grid Utility Implications: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Peak-to-base ratio is 4.28x, highlighting severe intra-day ramping requirements.</a:t>
            </a:r>
            <a:br/>
            <a:r>
              <a:t>• Utilities can deploy Time-of-Use (ToU) tariffs to incentivize shifting dishwasher and EV charging loads to the 02:00-05:00 valley.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BIG DATA ANALYTICS LAB |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Temporal Behavioral Shift: Weekday vs. Weekend Profiles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Household Electricity Pattern Analysis &amp; Predictive Modeling | Bhomick Debiya (Roll 32) &amp; Shorya Chilate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10 / 19</a:t>
            </a:r>
          </a:p>
        </p:txBody>
      </p:sp>
      <p:pic>
        <p:nvPicPr>
          <p:cNvPr id="8" name="Picture 7" descr="chart_weekday_week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0" y="1371600"/>
            <a:ext cx="460217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0" y="155448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LIFESTYLE &amp; TEMPORAL CONSUMPTION SHIFTS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Weekday Behavioral Pattern (Mon - Fri):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Sharper morning spike (07:00 hrs) followed by deep midday drop (09:00 - 16:00 hrs) as occupants commute to work/school.</a:t>
            </a:r>
            <a:br/>
            <a:r>
              <a:t>• Overall average weekday active power: ~1.03 kW.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Weekend Behavioral Pattern (Sat - Sun):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Morning peak is delayed by 1.5 to 2 hours (09:00 - 10:30 hrs) reflecting later wake-up times.</a:t>
            </a:r>
            <a:br/>
            <a:r>
              <a:t>• Sustained high daytime plateau (11:00 - 16:00 hrs) with 21.3% higher average power due to continuous home occupancy, batch laundry, and entertainment devices.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Utility Demand-Response Implication: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Fixed flat-rate pricing creates revenue deficits for utilities on weekends. Dynamic weekend scheduling is essential for accurate load dispatch.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BIG DATA ANALYTICS LAB |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Appliance Sub-Metering Disaggregation &amp; Energy Shares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Household Electricity Pattern Analysis &amp; Predictive Modeling | Bhomick Debiya (Roll 32) &amp; Shorya Chilate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11 / 19</a:t>
            </a:r>
          </a:p>
        </p:txBody>
      </p:sp>
      <p:pic>
        <p:nvPicPr>
          <p:cNvPr id="8" name="Picture 7" descr="chart_subme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0" y="1371600"/>
            <a:ext cx="496793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SMART METER SUB-CIRCUIT ANALYSIS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Sub-Metering 3: Climate Control &amp; Water Heating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• 72.7% Dominant Share of metered energy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• Heavy thermostatic loads: Electric water heater and air conditioner.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• Primary driver of seasonal winter/summer electricity surges.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Sub-Metering 2: Laundry Room Circuit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• 14.6% Share of metered energy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• Intermittent mechanical loads: Washing machine, tumble dryer, and continuous refrigeration.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• Clustered predominantly during weekend mornings and evenings.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Sub-Metering 1: Kitchen Zone Circuit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• 12.7% Share of metered energy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• Thermal &amp; motorized loads: Dishwasher, microwave, food processor.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• Correlates strictly with meal preparation windows (12:00 &amp; 19:30 hrs).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BIG DATA ANALYTICS LAB |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Multi-Sensor Correlation &amp; Electrical Physics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Household Electricity Pattern Analysis &amp; Predictive Modeling | Bhomick Debiya (Roll 32) &amp; Shorya Chilate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12 / 19</a:t>
            </a:r>
          </a:p>
        </p:txBody>
      </p:sp>
      <p:pic>
        <p:nvPicPr>
          <p:cNvPr id="8" name="Picture 7" descr="chart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0" y="1371600"/>
            <a:ext cx="460217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0" y="155448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ELECTRICAL ENGINEERING VALIDATION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1. Active Power vs. Current (r = +0.999):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Near-perfect positive linear correlation.</a:t>
            </a:r>
            <a:br/>
            <a:r>
              <a:t>• Empirically validates AC power law:</a:t>
            </a:r>
            <a:br/>
            <a:r>
              <a:t>     P = V × I × cos(φ)</a:t>
            </a:r>
            <a:br/>
            <a:r>
              <a:t>• Since voltage remains relatively stable around 240V, active power demand is directly proportional to line current intensity (Amperes).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2. Active Power vs. Voltage (r = -0.40):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Distinct negative correlation (Voltage Inversion).</a:t>
            </a:r>
            <a:br/>
            <a:r>
              <a:t>• Caused by Ohm's Law and line impedance (V_terminal = V_grid - I × R_line):</a:t>
            </a:r>
            <a:br/>
            <a:r>
              <a:t>• When high-current appliances turn on, internal line voltage drops slightly due to conductor resistance.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3. Sub-Meter 3 vs. Active Power (r = +0.64):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Climate control shows the strongest correlation with total demand, reinforcing its role as the dominant power consumer.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BIG DATA ANALYTICS LAB |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Distributed NoSQL Storage: Apache Cassandra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Household Electricity Pattern Analysis &amp; Predictive Modeling | Bhomick Debiya (Roll 32) &amp; Shorya Chilate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13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109728" cy="8229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Port 9042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Native CQL Binary Protocol 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109728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417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Wide-Column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Cassandra LSM-Tree Storage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10972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417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storage_fallback/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Transparent Local JSON Audit Fallback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331720"/>
            <a:ext cx="521208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CASSANDRA CQL DATA DEFINITION (DDL)</a:t>
            </a:r>
          </a:p>
          <a:p>
            <a:pPr>
              <a:defRPr sz="850">
                <a:solidFill>
                  <a:srgbClr val="0F172A"/>
                </a:solidFill>
                <a:latin typeface="Consolas"/>
              </a:defRPr>
            </a:pPr>
            <a:r>
              <a:t>-- 1. Create Keyspace with Replication Strategy</a:t>
            </a:r>
            <a:br/>
            <a:r>
              <a:t>CREATE KEYSPACE IF NOT EXISTS bda_electricity</a:t>
            </a:r>
            <a:br/>
            <a:r>
              <a:t>WITH replication = {'class': 'SimpleStrategy', 'replication_factor': 1};</a:t>
            </a:r>
            <a:br/>
            <a:br/>
            <a:r>
              <a:t>-- 2. Hourly Aggregates Table</a:t>
            </a:r>
            <a:br/>
            <a:r>
              <a:t>CREATE TABLE IF NOT EXISTS bda_electricity.hourly_aggregates (</a:t>
            </a:r>
            <a:br/>
            <a:r>
              <a:t>    hour int PRIMARY KEY,</a:t>
            </a:r>
            <a:br/>
            <a:r>
              <a:t>    avg_active_power double,</a:t>
            </a:r>
            <a:br/>
            <a:r>
              <a:t>    total_records bigint,</a:t>
            </a:r>
            <a:br/>
            <a:r>
              <a:t>    source text,</a:t>
            </a:r>
            <a:br/>
            <a:r>
              <a:t>    created_at timestamp</a:t>
            </a:r>
            <a:br/>
            <a:r>
              <a:t>);</a:t>
            </a:r>
            <a:br/>
            <a:br/>
            <a:r>
              <a:t>-- 3. Model Inference Audit Log Table</a:t>
            </a:r>
            <a:br/>
            <a:r>
              <a:t>CREATE TABLE IF NOT EXISTS bda_electricity.model_predictions (</a:t>
            </a:r>
            <a:br/>
            <a:r>
              <a:t>    prediction_id uuid PRIMARY KEY,</a:t>
            </a:r>
            <a:br/>
            <a:r>
              <a:t>    timestamp timestamp,</a:t>
            </a:r>
            <a:br/>
            <a:r>
              <a:t>    input_hour int,</a:t>
            </a:r>
            <a:br/>
            <a:r>
              <a:t>    input_day text,</a:t>
            </a:r>
            <a:br/>
            <a:r>
              <a:t>    predicted_kw double</a:t>
            </a:r>
            <a:br/>
            <a:r>
              <a:t>);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331720"/>
            <a:ext cx="521208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FAULT-TOLERANT CONNECTOR ARCHITECTURE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✔ Live Cassandra Detection (cassandra_storage.py):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The storage manager attempts to connect to localhost:9042 with a 3-second timeout using the DataStax cassandra-driver.</a:t>
            </a:r>
            <a:br/>
            <a:r>
              <a:t>If a live cluster is detected, DDL keyspaces and tables are provisioned automatically.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✔ Graceful Automatic Local Fallback: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When Cassandra is offline (typical in student lab environments without Docker services), the manager catches the NoHostAvailable exception.</a:t>
            </a:r>
            <a:br/>
            <a:r>
              <a:t>Rather than crashing or using misleading SQLite mocks, it seamlessly routes write operations to formatted JSON files in storage_fallback/.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✔ Zero Pipeline Disruption: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Both run_spark_pipeline.py and the Gradio app.py interact with the same unified API, ensuring total resilience in lab or production.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BIG DATA ANALYTICS LAB |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Machine Learning: Random Forest Demand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Household Electricity Pattern Analysis &amp; Predictive Modeling | Bhomick Debiya (Roll 32) &amp; Shorya Chilate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14 / 19</a:t>
            </a:r>
          </a:p>
        </p:txBody>
      </p:sp>
      <p:pic>
        <p:nvPicPr>
          <p:cNvPr id="8" name="Picture 7" descr="chart_mode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0" y="1371600"/>
            <a:ext cx="460217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0" y="146304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MODEL CONFIGURATION &amp; EVALUATION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• Target Variable: 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   Next-Hour Household Active Power Demand (kW)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• Model Algorithm: 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   Random Forest Regressor (50 trees, max_depth=10, multi-threaded)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• Features Ingested: 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   Hour of Day (0-23), Month (1-12), DayOfWeek (One-Hot Encoded)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• Validation Strategy: 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   Strict 80/20 train/test split on held-out test data (Zero Leakage)</a:t>
            </a:r>
          </a:p>
          <a:p>
            <a:br/>
            <a:r>
              <a:t>EVALUATION METRICS COMPARISON: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040880" y="4206240"/>
          <a:ext cx="4206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RMSE (Root Mean Sq)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1.0572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0.8793 kW (-16.8%)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MAE (Mean Absolute)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0.8120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0.6051 kW (-25.5%)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R² Score (Explained Var)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0.3075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BIG DATA ANALYTICS LAB |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Interactive Web Interface: Gradio 6.0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Household Electricity Pattern Analysis &amp; Predictive Modeling | Bhomick Debiya (Roll 32) &amp; Shorya Chilate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15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109728" cy="8229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Port 7860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Local Web Server Endpoint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109728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417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Gradio 6.0+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Upgraded Modern Reactive Framework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10972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4173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run_app.bat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One-Click Automated Launcher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331720"/>
            <a:ext cx="521208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2331720"/>
            <a:ext cx="109728" cy="1874519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24231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TAB 1: VISUAL ANALYTICS STUDIO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Interactive dropdown rendering high-resolution dynamic charts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24-hr Diurnal Load Curves with peak/valley spans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Weekday vs. Weekend lifestyle consumption shift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Appliance energy breakdown donut chart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Multi-sensor correlation matrix heatmap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331720"/>
            <a:ext cx="521208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331720"/>
            <a:ext cx="109728" cy="18745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24231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TAB 2: DUAL-ENGINE VALIDATION VIEW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Side-by-side grouped bar chart comparing Hadoop MapReduce vs Spark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Live interactive hourly discrepancy inspector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Proves mathematically identical average active power values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Displays data source lineage (HDFS /part-r-00000 vs PySpark memory)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43400"/>
            <a:ext cx="521208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4343400"/>
            <a:ext cx="109728" cy="18745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4348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TAB 3: REAL-TIME AI DEMAND FORECASTING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Interactive sliders for Hour of Day (0-23) and Month (1-12)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Day of Week selection dropdown (Monday to Sunday)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Real-time model inference delivering next-hour power forecast (kW)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Color-coded load band indicator (Low / Moderate / High Demand)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Automatic persistence of prediction audits to Cassandra NoSQL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343400"/>
            <a:ext cx="521208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4343400"/>
            <a:ext cx="109728" cy="1874519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443484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TAB 4: VIVA DEFENSE &amp; METHODOLOGY GUIDE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Embedded technical documentation for viva demonstration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Architecture summary table and terminal command cheatsheet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Instant answers to faculty questions on Combiners, HDFS blocks, and Spark DAG execution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BIG DATA ANALYTICS LAB |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Engineering Implementation Summary &amp; Technology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Household Electricity Pattern Analysis &amp; Predictive Modeling | Bhomick Debiya (Roll 32) &amp; Shorya Chilate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16 / 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19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 Component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Technical Scope &amp; Achievement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Execution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 / Cluster Location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Apache Hadoop HDFS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Distributed storage of 132.9 MB smart-meter raw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2,075,260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/bda_electricity/input/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Java Hadoop MapReduce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Native batch job compiled and executed on HDFS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 hourly bins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/bda_electricity/output/mr_hourly_results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Apache Spark (PySpark)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In-memory cleaning, temporal feature engineering, aggregations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23.96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run_spark_pipeline.py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Dual-Engine Cross-Validation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Mathematical proof of zero divergence between Spark and MR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0.000000 kW Delta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mr_hourly_results/part-r-00000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Apache Cassandra NoSQL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Live Port 9042 connector with automatic JSON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 DDL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cassandra_storage.py &amp; storage_fallback/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Random Forest ML Model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Trained demand forecasting model with held-out test metrics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RMSE 0.8793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rf_electricity_model.pkl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Gradio 6.0 Web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Demonstrable multi-tab web application for live inference &amp; viva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Port 7860 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app.py &amp; run_app.bat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BIG DATA ANALYTICS LAB |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/>
              <a:t>High-Yield Faculty Questions &amp;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Household Electricity Pattern Analysis &amp; Predictive Modeling | Bhomick Debiya (Roll 32) &amp; Shorya Chilate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17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52120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35607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Q1: Why utilize both Hadoop MapReduce AND Apache Spark in one project?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Academic &amp; Architectural Justification: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- MapReduce is disk-streamed with a minimal JVM memory footprint, ideal for computing baseline aggregations directly on raw multi-gigabyte HDFS splits without memory overflow.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- Spark is in-memory using Directed Acyclic Graphs (DAGs), enabling 100x faster iterative exploration, correlation heatmaps, and ML pipeline training.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- Dual-Engine Cross-Validation proves both engines reach identical mathematical convergence (0.000000 kW delta).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21208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5212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35607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Q2: Why can't a Combiner calculate Average directly in MapReduce?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Mathematical Proof of Non-Associativity: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- An operation must be associative to run in a Combiner (like Sum or Max).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- Arithmetic Average is NOT associative: Avg(A, B, C) ≠ Avg(Avg(A, B), C).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- If partial averages are averaged by a Combiner, different partition sizes distort the global result.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- Correct pattern: Combiner must emit intermediate (sum, count) pairs.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21208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52120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041648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Q3: How does Cassandra handle Time-Series smart meter queries?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Partition &amp; Clustering Key Architecture: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- In hourly_aggregates, 'hour' acts as the Partition Key, distributing 24 hourly metrics across cluster nodes for O(1) hash lookups.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- In model_predictions, 'prediction_id' / 'timestamp' enables sorted write-optimized append logs using Cassandra's LSM-Tree (Log-Structured Merge-Tree) architecture.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21208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5212080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041648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Q4: Explain the electrical significance of the +0.999 Active Power vs Current correlation.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Physics Law Verification: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- Active Power P = V × I × cos(φ). In domestic grids, Voltage V is regulated around 230-240V.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- Thus, Active Power is directly governed by Current Intensity I (Amperes).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- The negative voltage correlation (r = -0.40) demonstrates real-world internal grid line drop when high-draw appliances turn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BIG DATA ANALYTICS LAB |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Project Conclusions &amp; Production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Household Electricity Pattern Analysis &amp; Predictive Modeling | Bhomick Debiya (Roll 32) &amp; Shorya Chilate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18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KEY PROJECT ACHIEVEMENTS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✔ End-to-End Distributed Pipeline: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Successfully unified HDFS distributed storage, native Java MapReduce batch processing, in-memory PySpark analytics, NoSQL persistence, and AI inference over 2+ million smart meter records.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✔ Zero-Divergence Dual Engine Validation: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Empirically proved exact arithmetic equivalence (0.000000 kW delta) between Hadoop MapReduce and Apache Spark, validating algorithmic correctness.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✔ Actionable Diurnal Load Insights: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Identified the critical 20:00 evening peak (1.899 kW) and the 04:00 nocturnal baseline (0.443 kW), demonstrating that climate control accounts for 72.7% of sub-metered household energy.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✔ Superior Predictive Forecasting: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Trained a Random Forest Regressor yielding 16.83% lower RMSE and 25.48% lower MAE compared to baseline predictors without data leakage.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PRODUCTION ROADMAP &amp; FUTURE ENHANCEMENTS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🚀 Real-Time IoT Streaming (Apache Kafka):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Deploy Apache Kafka topic ingestion directly from smart-meter edge gateways, feeding Spark Structured Streaming for sub-second anomaly detection.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🚀 Deep Learning Sequential Modeling (LSTM):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Implement Long Short-Term Memory (LSTM) recurrent neural networks or Facebook Prophet to capture multi-week seasonality, weather covariates, and holiday effects.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🚀 Multi-Node Cloud Cluster Deployment: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Deploy the architecture on multi-node AWS EMR (Elastic MapReduce) or Google Cloud Dataproc with automated autoscaling for terabyte-scale smart grid telemetry.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🚀 Automated Demand-Response Triggers: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Integrate smart thermostat API webhooks that automatically reduce climate control loads by 10% during peak tariff hours (19:00 - 21:00).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14630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Calibri"/>
              </a:defRPr>
            </a:pPr>
            <a:r>
              <a:t>BIG DATA ANALYTICS LAB • V-SEMESTER CSE (AI &amp; 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  <a:p>
            <a:pPr>
              <a:defRPr sz="2200">
                <a:solidFill>
                  <a:srgbClr val="94A3B8"/>
                </a:solidFill>
              </a:defRPr>
            </a:pPr>
            <a:r>
              <a:t>Questions &amp; Technical Defense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999713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PROJECT REPOSITORY &amp; DEMONSTRATION DETAILS: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Presenters: Bhomick Debiya (Roll Number: 32) &amp; Shorya Chilate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Interactive Web Dashboard: http://127.0.0.1:7860 (run_app.bat)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Colab Deliverable: Household_Electricity_Consumption_Analysis.ipynb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HDFS MapReduce Output: /bda_electricity/output/mr_hourly_results/part-r-00000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4669</Words>
  <Application>Microsoft Office PowerPoint</Application>
  <PresentationFormat>Widescreen</PresentationFormat>
  <Paragraphs>474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Bhomick Debiya</cp:lastModifiedBy>
  <cp:revision>3</cp:revision>
  <dcterms:created xsi:type="dcterms:W3CDTF">2013-01-27T09:14:16Z</dcterms:created>
  <dcterms:modified xsi:type="dcterms:W3CDTF">2026-10-23T07:16:30Z</dcterms:modified>
  <cp:category/>
</cp:coreProperties>
</file>